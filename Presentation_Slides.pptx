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14cdde0a4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14cdde0a4_2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14cdde0a4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14cdde0a4_2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4cdde0a4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14cdde0a4_2_1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14cdde0a4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14cdde0a4_2_1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14cdde0a4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14cdde0a4_2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2778d20f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2778d20f0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2778d20f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2778d20f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2778d20f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2778d20f0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27bad09e6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27bad09e6_4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2778d20f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2778d20f0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14cdde0a4_1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14cdde0a4_1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14cdde0a4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14cdde0a4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14cdde0a4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14cdde0a4_2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14cdde0a4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14cdde0a4_2_1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" name="Google Shape;71;p1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72" name="Google Shape;72;p1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3" name="Google Shape;73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75" name="Google Shape;75;p1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76" name="Google Shape;76;p1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77" name="Google Shape;77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508001" y="2025650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3" type="body"/>
          </p:nvPr>
        </p:nvSpPr>
        <p:spPr>
          <a:xfrm>
            <a:off x="3816287" y="1620737"/>
            <a:ext cx="3139213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8" name="Google Shape;108;p18"/>
          <p:cNvSpPr txBox="1"/>
          <p:nvPr>
            <p:ph idx="4" type="body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508001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508001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/>
        </p:txBody>
      </p:sp>
      <p:sp>
        <p:nvSpPr>
          <p:cNvPr id="125" name="Google Shape;125;p2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508000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/>
          <p:nvPr>
            <p:ph idx="2" type="pic"/>
          </p:nvPr>
        </p:nvSpPr>
        <p:spPr>
          <a:xfrm>
            <a:off x="508000" y="457200"/>
            <a:ext cx="6447501" cy="2884288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508000" y="4025503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32" name="Google Shape;132;p2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49" name="Google Shape;149;p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名片">
  <p:cSld name="引述名片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是非題">
  <p:cSld name="是非題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514349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p2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 rot="5400000">
            <a:off x="2276461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 rot="5400000">
            <a:off x="4495739" y="1937215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" name="Google Shape;54;p13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55" name="Google Shape;55;p13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6" name="Google Shape;56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3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921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79400" lvl="2" marL="13716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305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305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305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305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305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305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</a:pPr>
            <a:r>
              <a:rPr lang="zh-TW"/>
              <a:t>ICCAD 2026 Problem D</a:t>
            </a:r>
            <a:br>
              <a:rPr lang="zh-TW"/>
            </a:br>
            <a:r>
              <a:rPr lang="zh-TW" sz="2400"/>
              <a:t>Timing Fixing by Useful Skew</a:t>
            </a:r>
            <a:endParaRPr sz="2400"/>
          </a:p>
        </p:txBody>
      </p:sp>
      <p:sp>
        <p:nvSpPr>
          <p:cNvPr id="189" name="Google Shape;189;p30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B12901137 楊祐宇</a:t>
            </a:r>
            <a:endParaRPr/>
          </a:p>
          <a:p>
            <a:pPr indent="0" lvl="0" marL="0" rtl="0" algn="r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zh-TW"/>
              <a:t>B12901113 林偉宸</a:t>
            </a:r>
            <a:endParaRPr/>
          </a:p>
          <a:p>
            <a:pPr indent="0" lvl="0" marL="0" rtl="0" algn="r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zh-TW"/>
              <a:t>B12901037 曹丞豐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題目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508000" y="1620450"/>
            <a:ext cx="66783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題目會提供一個 clock tree</a:t>
            </a:r>
            <a:r>
              <a:rPr lang="zh-TW" sz="1500"/>
              <a:t>、</a:t>
            </a:r>
            <a:r>
              <a:rPr lang="zh-TW" sz="1500"/>
              <a:t>buffer library </a:t>
            </a:r>
            <a:r>
              <a:rPr lang="zh-TW" sz="1500"/>
              <a:t>與</a:t>
            </a:r>
            <a:r>
              <a:rPr lang="zh-TW" sz="1500"/>
              <a:t>某些 path 的 FF/SS delay</a:t>
            </a:r>
            <a:endParaRPr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透過對 clock tree 做以下動作：</a:t>
            </a:r>
            <a:endParaRPr sz="1500"/>
          </a:p>
          <a:p>
            <a:pPr indent="-2159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插入 buffer</a:t>
            </a:r>
            <a:endParaRPr/>
          </a:p>
          <a:p>
            <a:pPr indent="-2159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調整既有 buffer 尺寸來改善</a:t>
            </a:r>
            <a:r>
              <a:rPr lang="zh-TW" sz="1500"/>
              <a:t>各 path 的 </a:t>
            </a:r>
            <a:r>
              <a:rPr lang="zh-TW" sz="1500"/>
              <a:t>Setup timing</a:t>
            </a:r>
            <a:r>
              <a:rPr lang="zh-TW" sz="1500"/>
              <a:t>、</a:t>
            </a:r>
            <a:r>
              <a:rPr lang="zh-TW" sz="1500"/>
              <a:t>Hold timing</a:t>
            </a:r>
            <a:r>
              <a:rPr lang="zh-TW" sz="1500"/>
              <a:t> 、與 </a:t>
            </a:r>
            <a:r>
              <a:rPr lang="zh-TW" sz="1500"/>
              <a:t>Area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題目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703025" y="3901929"/>
            <a:ext cx="6447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程式內部</a:t>
            </a:r>
            <a:r>
              <a:rPr lang="zh-TW" sz="1500"/>
              <a:t>自行設定之權</a:t>
            </a:r>
            <a:r>
              <a:rPr lang="zh-TW" sz="1500"/>
              <a:t>重：</a:t>
            </a:r>
            <a:r>
              <a:rPr b="1" lang="zh-TW" sz="1500">
                <a:solidFill>
                  <a:srgbClr val="FF0000"/>
                </a:solidFill>
              </a:rPr>
              <a:t>α = 0.6, β = 0.2, γ = 0.2</a:t>
            </a:r>
            <a:endParaRPr b="1" sz="1500">
              <a:solidFill>
                <a:srgbClr val="FF0000"/>
              </a:solidFill>
            </a:endParaRPr>
          </a:p>
          <a:p>
            <a:pPr indent="0" lvl="0" marL="254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273050" lvl="0" marL="254000" rtl="0" algn="l">
              <a:spcBef>
                <a:spcPts val="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Score </a:t>
            </a:r>
            <a:r>
              <a:rPr lang="zh-TW" sz="1500"/>
              <a:t>上界：</a:t>
            </a:r>
            <a:endParaRPr sz="1500"/>
          </a:p>
          <a:p>
            <a:pPr indent="0" lvl="0" marL="254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/>
              <a:t>α*[(1-0)+(1-0)] + β*[(1-0)+(1-0)] + γ*(1-0) = 2α + 2β + γ = 1.8</a:t>
            </a:r>
            <a:endParaRPr sz="1500"/>
          </a:p>
        </p:txBody>
      </p:sp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713" y="536328"/>
            <a:ext cx="3735725" cy="172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025" y="2336484"/>
            <a:ext cx="66675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5">
            <a:alphaModFix/>
          </a:blip>
          <a:srcRect b="-8" l="4003" r="0" t="21767"/>
          <a:stretch/>
        </p:blipFill>
        <p:spPr>
          <a:xfrm>
            <a:off x="703032" y="3310012"/>
            <a:ext cx="3081300" cy="3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演算法大綱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Phase 1：</a:t>
            </a:r>
            <a:r>
              <a:rPr lang="zh-TW" sz="1500"/>
              <a:t>LP</a:t>
            </a:r>
            <a:r>
              <a:rPr lang="zh-TW" sz="1500"/>
              <a:t> </a:t>
            </a:r>
            <a:endParaRPr sz="1500"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Phase 2：2-round </a:t>
            </a:r>
            <a:r>
              <a:rPr lang="zh-TW" sz="1500"/>
              <a:t>Iterative </a:t>
            </a:r>
            <a:r>
              <a:rPr lang="zh-TW" sz="1500"/>
              <a:t>Greedy</a:t>
            </a:r>
            <a:r>
              <a:rPr lang="zh-TW" sz="1500"/>
              <a:t> Algorithm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500"/>
              <a:t>總限制時間：585s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Phase 1：</a:t>
            </a:r>
            <a:r>
              <a:rPr lang="zh-TW"/>
              <a:t>LP</a:t>
            </a:r>
            <a:r>
              <a:rPr lang="zh-TW" sz="1500">
                <a:solidFill>
                  <a:srgbClr val="3F3F3F"/>
                </a:solidFill>
              </a:rPr>
              <a:t> </a:t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針對</a:t>
            </a:r>
            <a:r>
              <a:rPr lang="zh-TW" sz="1500"/>
              <a:t>每個buffer跟flip-flop</a:t>
            </a:r>
            <a:r>
              <a:rPr lang="zh-TW" sz="1500"/>
              <a:t>設立變數</a:t>
            </a:r>
            <a:r>
              <a:rPr lang="zh-TW" sz="1500"/>
              <a:t>，作為其之前與現在總delay的差</a:t>
            </a:r>
            <a:endParaRPr sz="1500"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約束：</a:t>
            </a:r>
            <a:endParaRPr sz="1500"/>
          </a:p>
          <a:p>
            <a:pPr indent="-2159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對於buffer與其children, base + (buffer) - (child) ∈ [buffer_min, buffer_max] </a:t>
            </a:r>
            <a:endParaRPr/>
          </a:p>
          <a:p>
            <a:pPr indent="-2159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對於每條path(A, B), base + (capture)- (launch) ≥ τ </a:t>
            </a:r>
            <a:endParaRPr sz="1500"/>
          </a:p>
          <a:p>
            <a:pPr indent="-209550" lvl="2" marL="8636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代表每條path的SS slack都大於τ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Phase 1：</a:t>
            </a:r>
            <a:r>
              <a:rPr lang="zh-TW"/>
              <a:t>LP</a:t>
            </a:r>
            <a:r>
              <a:rPr lang="zh-TW" sz="1500">
                <a:solidFill>
                  <a:srgbClr val="3F3F3F"/>
                </a:solidFill>
              </a:rPr>
              <a:t> 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85750" lvl="0" marL="2540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使用Graph解LP</a:t>
            </a:r>
            <a:endParaRPr/>
          </a:p>
          <a:p>
            <a:pPr indent="-2286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對於x ≤ B - A ≤ y, 建立如右圖的邊 </a:t>
            </a:r>
            <a:endParaRPr/>
          </a:p>
          <a:p>
            <a:pPr indent="-2667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使用Bellman-Ford, 以clock tree的root為source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如果有negative cycle，代表這個τ不可行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找到的距離就是每個點代表變數的答案</a:t>
            </a:r>
            <a:endParaRPr sz="1500"/>
          </a:p>
          <a:p>
            <a:pPr indent="-2667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使用二分法找到最大可行的τ, 其解作為</a:t>
            </a:r>
            <a:r>
              <a:rPr lang="zh-TW" sz="1500"/>
              <a:t>最後的</a:t>
            </a:r>
            <a:r>
              <a:rPr lang="zh-TW" sz="1500"/>
              <a:t>答案</a:t>
            </a:r>
            <a:endParaRPr sz="1500"/>
          </a:p>
        </p:txBody>
      </p:sp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18739" l="0" r="0" t="0"/>
          <a:stretch/>
        </p:blipFill>
        <p:spPr>
          <a:xfrm>
            <a:off x="4699625" y="1447800"/>
            <a:ext cx="2177450" cy="7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Phase 1：</a:t>
            </a:r>
            <a:r>
              <a:rPr lang="zh-TW"/>
              <a:t>LP</a:t>
            </a:r>
            <a:r>
              <a:rPr lang="zh-TW" sz="1500">
                <a:solidFill>
                  <a:srgbClr val="3F3F3F"/>
                </a:solidFill>
              </a:rPr>
              <a:t> 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508000" y="1247025"/>
            <a:ext cx="6894600" cy="3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跑兩輪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先跑第一輪，不算是答案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第一輪結束後，對每個仍然有negative slack的path，找其launching &amp; capturing flip-flop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在 FF 與其 parent 中間插新 buffer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再跑第二輪，做為真正的答案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引入：0-buffer = area 跟 delay 皆為 0 的 buffer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只有新 </a:t>
            </a:r>
            <a:r>
              <a:rPr lang="zh-TW" sz="1500"/>
              <a:t>buffer 有機會在後續被替換成 0-buffer（等效於取消插入）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508000" y="457200"/>
            <a:ext cx="64476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 sz="2300"/>
              <a:t>Phase 2：2-round Iterative Greedy Algorithm</a:t>
            </a:r>
            <a:endParaRPr sz="2300"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419889" y="1609436"/>
            <a:ext cx="63330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共</a:t>
            </a:r>
            <a:r>
              <a:rPr lang="zh-TW" sz="1500"/>
              <a:t>跑兩round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每round開始前，先對各個 buffer按照 priority 做排序</a:t>
            </a:r>
            <a:endParaRPr sz="1500"/>
          </a:p>
          <a:p>
            <a:pPr indent="0" lvl="0" marL="5588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500"/>
              <a:t>（參與到越多擁有negative slack 的 path，排名越前面）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之後不斷跑右邊的演算法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每個pass結束之後，更新 buffer的priority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直到50個pass沒有進步或超時為止</a:t>
            </a:r>
            <a:endParaRPr sz="1500"/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544" y="1098925"/>
            <a:ext cx="3139593" cy="33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508000" y="457200"/>
            <a:ext cx="64476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 sz="2300"/>
              <a:t>Phase 2：2-round Iterative Greedy Algorithm</a:t>
            </a:r>
            <a:endParaRPr sz="2300"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508000" y="1620450"/>
            <a:ext cx="69387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每個 pass 中 buffer 排序方法：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每 round 之前先算好每個 buffer 的 weight</a:t>
            </a:r>
            <a:endParaRPr sz="1500"/>
          </a:p>
          <a:p>
            <a:pPr indent="-209550" lvl="2" marL="8636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對於每個 “該 buffer 影響的 path”：</a:t>
            </a:r>
            <a:endParaRPr sz="1500"/>
          </a:p>
          <a:p>
            <a:pPr indent="355600" lvl="0" marL="5588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500"/>
              <a:t>weight += (max(0, -setup_slack)) + max(0, -hold_slack))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1st pass：priority=weight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其他 pass：priority=u^(1/weight)</a:t>
            </a:r>
            <a:endParaRPr sz="1500"/>
          </a:p>
          <a:p>
            <a:pPr indent="-209550" lvl="2" marL="8636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u：random number between(0,1)</a:t>
            </a:r>
            <a:endParaRPr sz="1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200"/>
              <a:t>(Efraimidis, Pavlos S.; Spirakis, Paul G. (2006-03-16). "Weighted random sampling with a reservoir". Information Processing Letters. 97 (5): 181–185. doi:10.1016/j.ipl.2005.11.003. )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508000" y="457200"/>
            <a:ext cx="64476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 sz="2300"/>
              <a:t>Phase 2：2-round Iterative Greedy Algorithm</a:t>
            </a:r>
            <a:endParaRPr sz="2300"/>
          </a:p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508000" y="1620450"/>
            <a:ext cx="59859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兩round的差別：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第一輪的初始clock tree採用Phase 1的結果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第二輪的初始clock tree採用最開始的clock tree</a:t>
            </a:r>
            <a:endParaRPr sz="1500"/>
          </a:p>
          <a:p>
            <a:pPr indent="-247650" lvl="1" marL="558800" rtl="0" algn="l">
              <a:spcBef>
                <a:spcPts val="800"/>
              </a:spcBef>
              <a:spcAft>
                <a:spcPts val="0"/>
              </a:spcAft>
              <a:buSzPts val="1500"/>
              <a:buChar char="►"/>
            </a:pPr>
            <a:r>
              <a:rPr lang="zh-TW" sz="1500"/>
              <a:t>最後採用score最好的clock tree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925" y="1135900"/>
            <a:ext cx="5541289" cy="20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 txBox="1"/>
          <p:nvPr>
            <p:ph type="title"/>
          </p:nvPr>
        </p:nvSpPr>
        <p:spPr>
          <a:xfrm>
            <a:off x="508000" y="457200"/>
            <a:ext cx="64476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實驗結果</a:t>
            </a:r>
            <a:r>
              <a:rPr lang="zh-TW"/>
              <a:t> (Original/after LP)</a:t>
            </a:r>
            <a:endParaRPr/>
          </a:p>
        </p:txBody>
      </p:sp>
      <p:sp>
        <p:nvSpPr>
          <p:cNvPr id="255" name="Google Shape;255;p40"/>
          <p:cNvSpPr txBox="1"/>
          <p:nvPr/>
        </p:nvSpPr>
        <p:spPr>
          <a:xfrm>
            <a:off x="427675" y="3384236"/>
            <a:ext cx="64476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</a:pP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上</a:t>
            </a: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表</a:t>
            </a: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是最新 testcase 在 LP 之後的結果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</a:pP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以啟動時間都小於8秒來說，</a:t>
            </a:r>
            <a:r>
              <a:rPr b="0" i="0" lang="zh-TW" sz="15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LP </a:t>
            </a: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的效果相當好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</a:pP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比舊版的LP還要好非常多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6" name="Google Shape;256;p40"/>
          <p:cNvPicPr preferRelativeResize="0"/>
          <p:nvPr/>
        </p:nvPicPr>
        <p:blipFill rotWithShape="1">
          <a:blip r:embed="rId4">
            <a:alphaModFix/>
          </a:blip>
          <a:srcRect b="0" l="0" r="0" t="79859"/>
          <a:stretch/>
        </p:blipFill>
        <p:spPr>
          <a:xfrm>
            <a:off x="1925225" y="4631149"/>
            <a:ext cx="5293550" cy="2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0"/>
          <p:cNvSpPr/>
          <p:nvPr/>
        </p:nvSpPr>
        <p:spPr>
          <a:xfrm>
            <a:off x="5413463" y="2049403"/>
            <a:ext cx="478500" cy="108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58" name="Google Shape;258;p40"/>
          <p:cNvCxnSpPr/>
          <p:nvPr/>
        </p:nvCxnSpPr>
        <p:spPr>
          <a:xfrm>
            <a:off x="1549575" y="4399250"/>
            <a:ext cx="215400" cy="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44" y="1614236"/>
            <a:ext cx="264795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1"/>
          <p:cNvSpPr txBox="1"/>
          <p:nvPr/>
        </p:nvSpPr>
        <p:spPr>
          <a:xfrm>
            <a:off x="552500" y="2840925"/>
            <a:ext cx="72177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</a:pP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本 </a:t>
            </a: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Greedy 演算法(左)在各項指標上（SS Slack、FF Slack、Area）皆有顯著改善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</a:pPr>
            <a:r>
              <a:rPr lang="zh-TW" sz="15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相比起上一版演算法(右)，各項指標均有進步</a:t>
            </a:r>
            <a:endParaRPr sz="15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5" name="Google Shape;265;p41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實驗結果</a:t>
            </a:r>
            <a:r>
              <a:rPr lang="zh-TW"/>
              <a:t> (Original/after Greedy)</a:t>
            </a:r>
            <a:endParaRPr/>
          </a:p>
        </p:txBody>
      </p:sp>
      <p:pic>
        <p:nvPicPr>
          <p:cNvPr id="266" name="Google Shape;26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075" y="1526907"/>
            <a:ext cx="4292699" cy="11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/>
          <p:nvPr/>
        </p:nvSpPr>
        <p:spPr>
          <a:xfrm>
            <a:off x="2761800" y="2054750"/>
            <a:ext cx="311100" cy="55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zh-TW"/>
              <a:t>小結</a:t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本演算法流程：</a:t>
            </a:r>
            <a:endParaRPr sz="1500"/>
          </a:p>
          <a:p>
            <a:pPr indent="-2159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 LP </a:t>
            </a:r>
            <a:r>
              <a:rPr lang="zh-TW" sz="1500"/>
              <a:t>快速尋找較好的</a:t>
            </a:r>
            <a:r>
              <a:rPr lang="zh-TW" sz="1500"/>
              <a:t> clock tree structure</a:t>
            </a:r>
            <a:endParaRPr/>
          </a:p>
          <a:p>
            <a:pPr indent="-2159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Greedy 負責進一步的優化</a:t>
            </a:r>
            <a:endParaRPr sz="1500"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實驗結果相較原始clock tree以及舊演算法的結果都有明顯改善。</a:t>
            </a:r>
            <a:endParaRPr sz="1500"/>
          </a:p>
          <a:p>
            <a:pPr indent="-254000" lvl="0" marL="2540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後續方向：</a:t>
            </a:r>
            <a:endParaRPr sz="1500"/>
          </a:p>
          <a:p>
            <a:pPr indent="-2286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繼續改進Greedy/Phase 2做法</a:t>
            </a:r>
            <a:endParaRPr sz="1500"/>
          </a:p>
          <a:p>
            <a:pPr indent="-228600" lvl="1" marL="558800" rtl="0" algn="l">
              <a:spcBef>
                <a:spcPts val="800"/>
              </a:spcBef>
              <a:spcAft>
                <a:spcPts val="0"/>
              </a:spcAft>
              <a:buSzPts val="1200"/>
              <a:buChar char="►"/>
            </a:pPr>
            <a:r>
              <a:rPr lang="zh-TW" sz="1500"/>
              <a:t>目前只在 Phase 1 進行插 buffer，後面只有做 resize。可以考慮試著在 Phase 2也加入插buffer的選項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/>
              <a:buNone/>
            </a:pPr>
            <a:r>
              <a:rPr lang="zh-TW"/>
              <a:t>報告結束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多面向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